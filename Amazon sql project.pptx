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82" r:id="rId24"/>
    <p:sldId id="278" r:id="rId25"/>
    <p:sldId id="279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CA079-F600-4994-883A-C99F0AF292EB}" v="7" dt="2026-03-26T15:57:00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C9BF3-0B17-49AE-9C58-5126CCD91130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3A948-6DBE-4FF6-A328-E8C4FBDAAF6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513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3A948-6DBE-4FF6-A328-E8C4FBDAAF6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38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3A948-6DBE-4FF6-A328-E8C4FBDAAF6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9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3A948-6DBE-4FF6-A328-E8C4FBDAAF6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70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d273c02f30ce4baa9b4a3cf76e7a7e0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Logistics &amp; Delivery Performance Analysis</a:t>
            </a:r>
            <a:r>
              <a:rPr lang="en-IN" dirty="0"/>
              <a:t> - AMAZON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87430"/>
            <a:ext cx="8229600" cy="4525963"/>
          </a:xfrm>
        </p:spPr>
        <p:txBody>
          <a:bodyPr/>
          <a:lstStyle/>
          <a:p>
            <a:r>
              <a:rPr dirty="0"/>
              <a:t>SQL-Based Business Insights</a:t>
            </a:r>
          </a:p>
          <a:p>
            <a:endParaRPr dirty="0"/>
          </a:p>
          <a:p>
            <a:r>
              <a:rPr dirty="0"/>
              <a:t>Name: </a:t>
            </a:r>
            <a:r>
              <a:rPr lang="en-IN" dirty="0"/>
              <a:t>C. SAI KEERTHANA</a:t>
            </a:r>
            <a:endParaRPr dirty="0"/>
          </a:p>
          <a:p>
            <a:r>
              <a:rPr dirty="0"/>
              <a:t>Course: Dat</a:t>
            </a:r>
            <a:r>
              <a:rPr lang="en-IN" dirty="0"/>
              <a:t>a Science</a:t>
            </a:r>
            <a:endParaRPr dirty="0"/>
          </a:p>
          <a:p>
            <a:r>
              <a:rPr dirty="0"/>
              <a:t>Tool: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Analyze delivery performance to identify delays, evaluate efficiency of routes, warehouses, and delivery agents, and provide data-driven recommendations to improve overall logistics operations.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Dataset includes ;</a:t>
            </a:r>
          </a:p>
          <a:p>
            <a:pPr marL="0" indent="0">
              <a:buNone/>
            </a:pPr>
            <a:r>
              <a:rPr lang="en-US" sz="2800" dirty="0"/>
              <a:t>orders, </a:t>
            </a:r>
          </a:p>
          <a:p>
            <a:pPr marL="0" indent="0">
              <a:buNone/>
            </a:pPr>
            <a:r>
              <a:rPr lang="en-US" sz="2800" dirty="0"/>
              <a:t>routes, </a:t>
            </a:r>
          </a:p>
          <a:p>
            <a:pPr marL="0" indent="0">
              <a:buNone/>
            </a:pPr>
            <a:r>
              <a:rPr lang="en-US" sz="2800" dirty="0"/>
              <a:t>warehouses, </a:t>
            </a:r>
          </a:p>
          <a:p>
            <a:pPr marL="0" indent="0">
              <a:buNone/>
            </a:pPr>
            <a:r>
              <a:rPr lang="en-US" sz="2800" dirty="0"/>
              <a:t>delivery agents, and shipment tracking data.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Duplicate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8231"/>
            <a:ext cx="8229600" cy="5387932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lang="en-US" sz="2400" dirty="0"/>
              <a:t>Query used to check duplicate Order_IDs returned no results. </a:t>
            </a:r>
            <a:r>
              <a:rPr lang="en-IN" sz="2400" dirty="0"/>
              <a:t>Dataset is clean 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QUERY :-    </a:t>
            </a:r>
          </a:p>
          <a:p>
            <a:pPr marL="0" indent="0">
              <a:buNone/>
            </a:pPr>
            <a:r>
              <a:rPr lang="en-US" sz="2000" dirty="0"/>
              <a:t> SELECT Order_ID, COUNT(*)FROM ordersGROUP BY Order_ID HAVING COUNT(*) &gt; 1;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RESULT TABLE;</a:t>
            </a:r>
          </a:p>
          <a:p>
            <a:pPr marL="0" indent="0">
              <a:buNone/>
            </a:pPr>
            <a:endParaRPr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F90A82-DBAE-2B6F-9CBE-1EEC2D42E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7958"/>
              </p:ext>
            </p:extLst>
          </p:nvPr>
        </p:nvGraphicFramePr>
        <p:xfrm>
          <a:off x="1524000" y="4719040"/>
          <a:ext cx="6096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473">
                  <a:extLst>
                    <a:ext uri="{9D8B030D-6E8A-4147-A177-3AD203B41FA5}">
                      <a16:colId xmlns:a16="http://schemas.microsoft.com/office/drawing/2014/main" val="3387025051"/>
                    </a:ext>
                  </a:extLst>
                </a:gridCol>
                <a:gridCol w="3205527">
                  <a:extLst>
                    <a:ext uri="{9D8B030D-6E8A-4147-A177-3AD203B41FA5}">
                      <a16:colId xmlns:a16="http://schemas.microsoft.com/office/drawing/2014/main" val="26120995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9462371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Order_ID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Count (*)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0745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540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Date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684"/>
            <a:ext cx="8229600" cy="4817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Date fields were validated and standardized using SQL date functions to ensure accurate delay calculations.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QUERY :-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</a:p>
          <a:p>
            <a:pPr marL="0" indent="0">
              <a:buNone/>
            </a:pPr>
            <a:r>
              <a:rPr lang="en-US" sz="1800" dirty="0"/>
              <a:t>    Order_Date,</a:t>
            </a:r>
          </a:p>
          <a:p>
            <a:pPr marL="0" indent="0">
              <a:buNone/>
            </a:pPr>
            <a:r>
              <a:rPr lang="en-US" sz="1800" dirty="0"/>
              <a:t>    STR_TO_DATE(Order_Date, '%Y-%m-%d') AS Formatted_Order_Date</a:t>
            </a:r>
          </a:p>
          <a:p>
            <a:pPr marL="0" indent="0">
              <a:buNone/>
            </a:pPr>
            <a:r>
              <a:rPr lang="en-US" sz="1800" dirty="0"/>
              <a:t>FROM orders;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3A6554-B308-7AE1-347C-2D8C76407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526967"/>
              </p:ext>
            </p:extLst>
          </p:nvPr>
        </p:nvGraphicFramePr>
        <p:xfrm>
          <a:off x="1758893" y="4202885"/>
          <a:ext cx="4064000" cy="150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019358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0471114"/>
                    </a:ext>
                  </a:extLst>
                </a:gridCol>
              </a:tblGrid>
              <a:tr h="433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Original Format (DD-MM-YYYY)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Converted Format (YYYY-MM-DD)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791473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08-06-2025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009131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22-06-2025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2025-06-22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50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1D7E-A955-3A6C-5DBD-BB8E31D6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Date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84233-17A6-70BB-7544-DF63F79B5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70"/>
            <a:ext cx="8229600" cy="49600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QUERY :-                                                                                                                        </a:t>
            </a:r>
            <a:r>
              <a:rPr lang="en-US" sz="2000" dirty="0"/>
              <a:t>SELECT Order_Date, Actual_Delivery_DateFROM ordersLIMIT 5;</a:t>
            </a:r>
          </a:p>
          <a:p>
            <a:pPr marL="0" indent="0">
              <a:buNone/>
            </a:pPr>
            <a:r>
              <a:rPr lang="en-US" sz="2000" b="1" dirty="0"/>
              <a:t>RESULT :-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original date format was in </a:t>
            </a:r>
            <a:r>
              <a:rPr lang="en-US" sz="1800" b="1" dirty="0"/>
              <a:t>DD-MM-YYYY</a:t>
            </a:r>
            <a:r>
              <a:rPr lang="en-US" sz="1800" dirty="0"/>
              <a:t> format. It was converted into standard </a:t>
            </a:r>
            <a:r>
              <a:rPr lang="en-US" sz="1800" b="1" dirty="0"/>
              <a:t>YYYY-MM-DD</a:t>
            </a:r>
            <a:r>
              <a:rPr lang="en-US" sz="1800" dirty="0"/>
              <a:t> format using SQL functions. Standardizing date formats ensures consistency and prevents errors in time-based analysis such as delivery delay calculation.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784C68-55B8-5DD7-CDC9-95F89E724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13452"/>
              </p:ext>
            </p:extLst>
          </p:nvPr>
        </p:nvGraphicFramePr>
        <p:xfrm>
          <a:off x="1280719" y="2309070"/>
          <a:ext cx="562342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417">
                  <a:extLst>
                    <a:ext uri="{9D8B030D-6E8A-4147-A177-3AD203B41FA5}">
                      <a16:colId xmlns:a16="http://schemas.microsoft.com/office/drawing/2014/main" val="2665354568"/>
                    </a:ext>
                  </a:extLst>
                </a:gridCol>
                <a:gridCol w="2256638">
                  <a:extLst>
                    <a:ext uri="{9D8B030D-6E8A-4147-A177-3AD203B41FA5}">
                      <a16:colId xmlns:a16="http://schemas.microsoft.com/office/drawing/2014/main" val="3681201638"/>
                    </a:ext>
                  </a:extLst>
                </a:gridCol>
                <a:gridCol w="2617366">
                  <a:extLst>
                    <a:ext uri="{9D8B030D-6E8A-4147-A177-3AD203B41FA5}">
                      <a16:colId xmlns:a16="http://schemas.microsoft.com/office/drawing/2014/main" val="1659238256"/>
                    </a:ext>
                  </a:extLst>
                </a:gridCol>
              </a:tblGrid>
              <a:tr h="24407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Order_Date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Actual_Delivery_Date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52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2025-06-08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21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39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2025-06-04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92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24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2025-06-10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987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37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Missing Value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2400" b="1" dirty="0"/>
              <a:t>QUERY :-                                                            </a:t>
            </a:r>
          </a:p>
          <a:p>
            <a:pPr marL="0" indent="0">
              <a:buNone/>
            </a:pPr>
            <a:r>
              <a:rPr lang="en-IN" sz="2400" b="1" dirty="0"/>
              <a:t>                 </a:t>
            </a:r>
            <a:r>
              <a:rPr lang="en-US" sz="1800" dirty="0"/>
              <a:t>SELECT AVG(Traffic_Delay_Min) AS avg_delayFROM routes;</a:t>
            </a:r>
          </a:p>
          <a:p>
            <a:pPr marL="0" indent="0">
              <a:buNone/>
            </a:pPr>
            <a:r>
              <a:rPr lang="en-US" sz="2400" b="1" dirty="0"/>
              <a:t>RESULT :-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Checked for missing or null values across all datasets. No significant missing values were found. Average traffic delay calculated as </a:t>
            </a:r>
            <a:r>
              <a:rPr lang="en-US" sz="1800" b="1" dirty="0"/>
              <a:t>28.85 minutes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E19EB3-BF36-1F0C-08C7-54DA11314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69047"/>
              </p:ext>
            </p:extLst>
          </p:nvPr>
        </p:nvGraphicFramePr>
        <p:xfrm>
          <a:off x="2390863" y="3095539"/>
          <a:ext cx="2181137" cy="1294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506">
                  <a:extLst>
                    <a:ext uri="{9D8B030D-6E8A-4147-A177-3AD203B41FA5}">
                      <a16:colId xmlns:a16="http://schemas.microsoft.com/office/drawing/2014/main" val="3514848412"/>
                    </a:ext>
                  </a:extLst>
                </a:gridCol>
                <a:gridCol w="1652631">
                  <a:extLst>
                    <a:ext uri="{9D8B030D-6E8A-4147-A177-3AD203B41FA5}">
                      <a16:colId xmlns:a16="http://schemas.microsoft.com/office/drawing/2014/main" val="3069011607"/>
                    </a:ext>
                  </a:extLst>
                </a:gridCol>
              </a:tblGrid>
              <a:tr h="70442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avg_delay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41140"/>
                  </a:ext>
                </a:extLst>
              </a:tr>
              <a:tr h="58969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28.8500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39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3123"/>
          </a:xfrm>
        </p:spPr>
        <p:txBody>
          <a:bodyPr>
            <a:normAutofit/>
          </a:bodyPr>
          <a:lstStyle/>
          <a:p>
            <a:r>
              <a:rPr sz="3200" dirty="0"/>
              <a:t>Delivery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352"/>
            <a:ext cx="8229600" cy="60526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1600" b="1" dirty="0"/>
              <a:t>QUERY :-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sz="1600" dirty="0"/>
              <a:t>SELECT Order_ID,       Order_Date,       Actual_Delivery_Date,       </a:t>
            </a:r>
          </a:p>
          <a:p>
            <a:pPr marL="0" indent="0">
              <a:buNone/>
            </a:pPr>
            <a:r>
              <a:rPr lang="en-US" sz="1600" dirty="0"/>
              <a:t>DATEDIFF(Actual_Delivery_Date, Order_Date) AS Delay_DaysFROM orders;</a:t>
            </a:r>
          </a:p>
          <a:p>
            <a:r>
              <a:rPr lang="en-US" sz="1600" dirty="0"/>
              <a:t>Delivery delay calculated using SQL DATEDIFF function. All orders experienced delivery delays.</a:t>
            </a:r>
          </a:p>
          <a:p>
            <a:r>
              <a:rPr lang="en-US" sz="1600" dirty="0"/>
              <a:t>Observed delay ranges between </a:t>
            </a:r>
            <a:r>
              <a:rPr lang="en-US" sz="1600" b="1" dirty="0"/>
              <a:t>3 to 9 days</a:t>
            </a:r>
            <a:r>
              <a:rPr lang="en-US" sz="1600" dirty="0"/>
              <a:t> across orders.</a:t>
            </a:r>
          </a:p>
          <a:p>
            <a:pPr marL="0" indent="0">
              <a:buNone/>
            </a:pPr>
            <a:r>
              <a:rPr lang="en-US" sz="2000" b="1" dirty="0"/>
              <a:t>RESULT :-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916F51-03A7-0655-61C9-A82432744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614010"/>
              </p:ext>
            </p:extLst>
          </p:nvPr>
        </p:nvGraphicFramePr>
        <p:xfrm>
          <a:off x="763398" y="2793978"/>
          <a:ext cx="7071920" cy="4064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90">
                  <a:extLst>
                    <a:ext uri="{9D8B030D-6E8A-4147-A177-3AD203B41FA5}">
                      <a16:colId xmlns:a16="http://schemas.microsoft.com/office/drawing/2014/main" val="1339843109"/>
                    </a:ext>
                  </a:extLst>
                </a:gridCol>
                <a:gridCol w="1157681">
                  <a:extLst>
                    <a:ext uri="{9D8B030D-6E8A-4147-A177-3AD203B41FA5}">
                      <a16:colId xmlns:a16="http://schemas.microsoft.com/office/drawing/2014/main" val="3935688396"/>
                    </a:ext>
                  </a:extLst>
                </a:gridCol>
                <a:gridCol w="1275126">
                  <a:extLst>
                    <a:ext uri="{9D8B030D-6E8A-4147-A177-3AD203B41FA5}">
                      <a16:colId xmlns:a16="http://schemas.microsoft.com/office/drawing/2014/main" val="4206328407"/>
                    </a:ext>
                  </a:extLst>
                </a:gridCol>
                <a:gridCol w="2298584">
                  <a:extLst>
                    <a:ext uri="{9D8B030D-6E8A-4147-A177-3AD203B41FA5}">
                      <a16:colId xmlns:a16="http://schemas.microsoft.com/office/drawing/2014/main" val="1133529323"/>
                    </a:ext>
                  </a:extLst>
                </a:gridCol>
                <a:gridCol w="1342239">
                  <a:extLst>
                    <a:ext uri="{9D8B030D-6E8A-4147-A177-3AD203B41FA5}">
                      <a16:colId xmlns:a16="http://schemas.microsoft.com/office/drawing/2014/main" val="1116312973"/>
                    </a:ext>
                  </a:extLst>
                </a:gridCol>
              </a:tblGrid>
              <a:tr h="38551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Order_date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Actual_delivery_Date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Delay_Days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9075"/>
                  </a:ext>
                </a:extLst>
              </a:tr>
              <a:tr h="38667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2025-06-11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591860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202584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703253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892604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956163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O0006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157738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6021833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720865"/>
                  </a:ext>
                </a:extLst>
              </a:tr>
              <a:tr h="2086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851458"/>
                  </a:ext>
                </a:extLst>
              </a:tr>
              <a:tr h="3512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6636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34892"/>
            <a:ext cx="8229600" cy="1098958"/>
          </a:xfrm>
        </p:spPr>
        <p:txBody>
          <a:bodyPr>
            <a:normAutofit/>
          </a:bodyPr>
          <a:lstStyle/>
          <a:p>
            <a:r>
              <a:rPr sz="2800" dirty="0"/>
              <a:t>Route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0373"/>
            <a:ext cx="8229600" cy="6377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QUERY:-</a:t>
            </a:r>
          </a:p>
          <a:p>
            <a:pPr marL="0" indent="0">
              <a:buNone/>
            </a:pPr>
            <a:r>
              <a:rPr lang="en-US" sz="1800" dirty="0"/>
              <a:t>SELECT Route_ID, AVG(DATEDIFF(Actual_Delivery_Date, Order_Date)) AS Avg_DelayFROM ordersGROUP BY Route_ID ORDER BY Avg_Delay DESC LIMIT 10;</a:t>
            </a:r>
          </a:p>
          <a:p>
            <a:pPr marL="0" indent="0">
              <a:buNone/>
            </a:pPr>
            <a:r>
              <a:rPr lang="en-US" sz="2000" b="1" dirty="0"/>
              <a:t>RESULT:-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        These routes significantly impact overall delivery performance.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sz="2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9D44E6-C225-175F-0B72-253F672D9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811541"/>
              </p:ext>
            </p:extLst>
          </p:nvPr>
        </p:nvGraphicFramePr>
        <p:xfrm>
          <a:off x="1809226" y="1820411"/>
          <a:ext cx="466707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306">
                  <a:extLst>
                    <a:ext uri="{9D8B030D-6E8A-4147-A177-3AD203B41FA5}">
                      <a16:colId xmlns:a16="http://schemas.microsoft.com/office/drawing/2014/main" val="1028858657"/>
                    </a:ext>
                  </a:extLst>
                </a:gridCol>
                <a:gridCol w="2332140">
                  <a:extLst>
                    <a:ext uri="{9D8B030D-6E8A-4147-A177-3AD203B41FA5}">
                      <a16:colId xmlns:a16="http://schemas.microsoft.com/office/drawing/2014/main" val="3929131371"/>
                    </a:ext>
                  </a:extLst>
                </a:gridCol>
                <a:gridCol w="1501629">
                  <a:extLst>
                    <a:ext uri="{9D8B030D-6E8A-4147-A177-3AD203B41FA5}">
                      <a16:colId xmlns:a16="http://schemas.microsoft.com/office/drawing/2014/main" val="1954504151"/>
                    </a:ext>
                  </a:extLst>
                </a:gridCol>
              </a:tblGrid>
              <a:tr h="2348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Route_ID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Avg_Delay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223392"/>
                  </a:ext>
                </a:extLst>
              </a:tr>
              <a:tr h="22985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077966"/>
                  </a:ext>
                </a:extLst>
              </a:tr>
              <a:tr h="25838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6.2857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028328"/>
                  </a:ext>
                </a:extLst>
              </a:tr>
              <a:tr h="24495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5.8824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13236"/>
                  </a:ext>
                </a:extLst>
              </a:tr>
              <a:tr h="2399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5.7500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405134"/>
                  </a:ext>
                </a:extLst>
              </a:tr>
              <a:tr h="26844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5.6154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128229"/>
                  </a:ext>
                </a:extLst>
              </a:tr>
              <a:tr h="27180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5.6154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811458"/>
                  </a:ext>
                </a:extLst>
              </a:tr>
              <a:tr h="2667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5.5500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48480"/>
                  </a:ext>
                </a:extLst>
              </a:tr>
              <a:tr h="2701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5.4375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910938"/>
                  </a:ext>
                </a:extLst>
              </a:tr>
              <a:tr h="2399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5.4167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551293"/>
                  </a:ext>
                </a:extLst>
              </a:tr>
              <a:tr h="18455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5.4000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3901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62730"/>
            <a:ext cx="8229600" cy="2080368"/>
          </a:xfrm>
        </p:spPr>
        <p:txBody>
          <a:bodyPr>
            <a:normAutofit/>
          </a:bodyPr>
          <a:lstStyle/>
          <a:p>
            <a:r>
              <a:rPr sz="2800" dirty="0"/>
              <a:t>Route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0451"/>
            <a:ext cx="8229600" cy="55557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QUERY:-</a:t>
            </a:r>
          </a:p>
          <a:p>
            <a:pPr marL="0" indent="0">
              <a:buNone/>
            </a:pPr>
            <a:r>
              <a:rPr lang="en-US" sz="2000" dirty="0"/>
              <a:t>SELECT r.Route_ID,  AVG(DATEDIFF(o.Actual_Delivery_Date, o.Order_Date)) </a:t>
            </a:r>
          </a:p>
          <a:p>
            <a:pPr marL="0" indent="0">
              <a:buNone/>
            </a:pPr>
            <a:r>
              <a:rPr lang="en-US" sz="2000" dirty="0"/>
              <a:t>AS  Avg_Delivery_Time, AVG(r.Traffic_Delay_Min) AS Avg_Traffic_Delay,       AVG(r.Distance_KM) / AVG(r.Average_Travel_Time_Min) AS Efficiency_Ratio FROM routes rJOIN orders o ON r.Route_ID = o.Route_ID GROUP BY r.Route_ID ORDER BY Efficiency_Ratio ASC LIMIT 3;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RESULT :-</a:t>
            </a:r>
          </a:p>
          <a:p>
            <a:pPr marL="0" indent="0">
              <a:buNone/>
            </a:pPr>
            <a:r>
              <a:rPr lang="en-US" sz="2000" b="1" dirty="0"/>
              <a:t>                                 </a:t>
            </a:r>
          </a:p>
          <a:p>
            <a:pPr marL="0" indent="0">
              <a:buNone/>
            </a:pPr>
            <a:r>
              <a:rPr lang="en-US" sz="2000" dirty="0"/>
              <a:t>                                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Lower efficiency indicates slower delivery and poor route performance.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6B6E4A-0178-F84D-FB18-762C24369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35540"/>
              </p:ext>
            </p:extLst>
          </p:nvPr>
        </p:nvGraphicFramePr>
        <p:xfrm>
          <a:off x="1196829" y="2816502"/>
          <a:ext cx="730960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914">
                  <a:extLst>
                    <a:ext uri="{9D8B030D-6E8A-4147-A177-3AD203B41FA5}">
                      <a16:colId xmlns:a16="http://schemas.microsoft.com/office/drawing/2014/main" val="3083923974"/>
                    </a:ext>
                  </a:extLst>
                </a:gridCol>
                <a:gridCol w="1098958">
                  <a:extLst>
                    <a:ext uri="{9D8B030D-6E8A-4147-A177-3AD203B41FA5}">
                      <a16:colId xmlns:a16="http://schemas.microsoft.com/office/drawing/2014/main" val="3674188547"/>
                    </a:ext>
                  </a:extLst>
                </a:gridCol>
                <a:gridCol w="2035728">
                  <a:extLst>
                    <a:ext uri="{9D8B030D-6E8A-4147-A177-3AD203B41FA5}">
                      <a16:colId xmlns:a16="http://schemas.microsoft.com/office/drawing/2014/main" val="274091047"/>
                    </a:ext>
                  </a:extLst>
                </a:gridCol>
                <a:gridCol w="1898708">
                  <a:extLst>
                    <a:ext uri="{9D8B030D-6E8A-4147-A177-3AD203B41FA5}">
                      <a16:colId xmlns:a16="http://schemas.microsoft.com/office/drawing/2014/main" val="3429812179"/>
                    </a:ext>
                  </a:extLst>
                </a:gridCol>
                <a:gridCol w="1753299">
                  <a:extLst>
                    <a:ext uri="{9D8B030D-6E8A-4147-A177-3AD203B41FA5}">
                      <a16:colId xmlns:a16="http://schemas.microsoft.com/office/drawing/2014/main" val="3590964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Route_ID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Avg_Delivery_Time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Avg_Traffic_Delay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Efficiency_Ratio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099179"/>
                  </a:ext>
                </a:extLst>
              </a:tr>
              <a:tr h="4802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4.8182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42.0000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0.16065573770491803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434904"/>
                  </a:ext>
                </a:extLst>
              </a:tr>
              <a:tr h="4802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5.4375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34.0000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0.24372093023255806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970274"/>
                  </a:ext>
                </a:extLst>
              </a:tr>
              <a:tr h="4802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5.4167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0.1512048192771084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993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72455"/>
            <a:ext cx="8229600" cy="2290194"/>
          </a:xfrm>
        </p:spPr>
        <p:txBody>
          <a:bodyPr>
            <a:normAutofit/>
          </a:bodyPr>
          <a:lstStyle/>
          <a:p>
            <a:r>
              <a:rPr sz="2800" dirty="0"/>
              <a:t>Delay Percentage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8172"/>
            <a:ext cx="8229600" cy="644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QUERY:-</a:t>
            </a:r>
          </a:p>
          <a:p>
            <a:pPr marL="0" indent="0">
              <a:buNone/>
            </a:pPr>
            <a:r>
              <a:rPr lang="en-US" sz="1400" dirty="0"/>
              <a:t>SELECT Route_ID,</a:t>
            </a:r>
          </a:p>
          <a:p>
            <a:pPr marL="0" indent="0">
              <a:buNone/>
            </a:pPr>
            <a:r>
              <a:rPr lang="en-US" sz="1400" dirty="0"/>
              <a:t>       COUNT(*) AS Total_Orders,</a:t>
            </a:r>
          </a:p>
          <a:p>
            <a:pPr marL="0" indent="0">
              <a:buNone/>
            </a:pPr>
            <a:r>
              <a:rPr lang="en-US" sz="1400" dirty="0"/>
              <a:t>       COUNT(CASE </a:t>
            </a:r>
          </a:p>
          <a:p>
            <a:pPr marL="0" indent="0">
              <a:buNone/>
            </a:pPr>
            <a:r>
              <a:rPr lang="en-US" sz="1400" dirty="0"/>
              <a:t>           WHEN DATEDIFF(Actual_Delivery_Date, Order_Date) &gt; 0 THEN 1 </a:t>
            </a:r>
          </a:p>
          <a:p>
            <a:pPr marL="0" indent="0">
              <a:buNone/>
            </a:pPr>
            <a:r>
              <a:rPr lang="en-US" sz="1400" dirty="0"/>
              <a:t>       END) * </a:t>
            </a:r>
            <a:r>
              <a:rPr lang="en-US" sz="1400" b="1" dirty="0"/>
              <a:t>100.0</a:t>
            </a:r>
            <a:r>
              <a:rPr lang="en-US" sz="1400" dirty="0"/>
              <a:t> / COUNT(*) AS Delay_Percentage</a:t>
            </a:r>
          </a:p>
          <a:p>
            <a:pPr marL="0" indent="0">
              <a:buNone/>
            </a:pPr>
            <a:r>
              <a:rPr lang="en-US" sz="1400" dirty="0"/>
              <a:t>FROM orders</a:t>
            </a:r>
          </a:p>
          <a:p>
            <a:pPr marL="0" indent="0">
              <a:buNone/>
            </a:pPr>
            <a:r>
              <a:rPr lang="en-US" sz="1400" dirty="0"/>
              <a:t>GROUP BY Route_ID;</a:t>
            </a:r>
          </a:p>
          <a:p>
            <a:pPr marL="0" indent="0">
              <a:buNone/>
            </a:pPr>
            <a:r>
              <a:rPr lang="en-US" sz="1800" b="1" dirty="0"/>
              <a:t>RESULT:-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42490C-2DB3-00A2-68EC-673F4B489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33042"/>
              </p:ext>
            </p:extLst>
          </p:nvPr>
        </p:nvGraphicFramePr>
        <p:xfrm>
          <a:off x="1652630" y="2774658"/>
          <a:ext cx="5637402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307">
                  <a:extLst>
                    <a:ext uri="{9D8B030D-6E8A-4147-A177-3AD203B41FA5}">
                      <a16:colId xmlns:a16="http://schemas.microsoft.com/office/drawing/2014/main" val="2036743109"/>
                    </a:ext>
                  </a:extLst>
                </a:gridCol>
                <a:gridCol w="1241570">
                  <a:extLst>
                    <a:ext uri="{9D8B030D-6E8A-4147-A177-3AD203B41FA5}">
                      <a16:colId xmlns:a16="http://schemas.microsoft.com/office/drawing/2014/main" val="2543192866"/>
                    </a:ext>
                  </a:extLst>
                </a:gridCol>
                <a:gridCol w="1568742">
                  <a:extLst>
                    <a:ext uri="{9D8B030D-6E8A-4147-A177-3AD203B41FA5}">
                      <a16:colId xmlns:a16="http://schemas.microsoft.com/office/drawing/2014/main" val="727578950"/>
                    </a:ext>
                  </a:extLst>
                </a:gridCol>
                <a:gridCol w="1993783">
                  <a:extLst>
                    <a:ext uri="{9D8B030D-6E8A-4147-A177-3AD203B41FA5}">
                      <a16:colId xmlns:a16="http://schemas.microsoft.com/office/drawing/2014/main" val="923792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Route_ID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Delay_Percentage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4093"/>
                  </a:ext>
                </a:extLst>
              </a:tr>
              <a:tr h="31584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164842"/>
                  </a:ext>
                </a:extLst>
              </a:tr>
              <a:tr h="12625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410451"/>
                  </a:ext>
                </a:extLst>
              </a:tr>
              <a:tr h="16316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703502"/>
                  </a:ext>
                </a:extLst>
              </a:tr>
              <a:tr h="21685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2956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947737"/>
                  </a:ext>
                </a:extLst>
              </a:tr>
              <a:tr h="24873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36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24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516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4851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1296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04674"/>
            <a:ext cx="8229600" cy="1946246"/>
          </a:xfrm>
        </p:spPr>
        <p:txBody>
          <a:bodyPr>
            <a:normAutofit/>
          </a:bodyPr>
          <a:lstStyle/>
          <a:p>
            <a:r>
              <a:rPr sz="2800" dirty="0"/>
              <a:t>Warehouse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611" y="1146376"/>
            <a:ext cx="8229600" cy="5471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QUERY:-</a:t>
            </a:r>
          </a:p>
          <a:p>
            <a:pPr marL="0" indent="0">
              <a:buNone/>
            </a:pPr>
            <a:r>
              <a:rPr lang="en-US" sz="1800" dirty="0"/>
              <a:t>SELECT Warehouse_ID,    AVG(Processing_Time_Min) AS Avg_Processing_Time  FROM warehouses GROUP BY Warehouse_ID ORDER BY Avg_Processing_Time DESC LIMIT 3;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RESULT:-</a:t>
            </a:r>
          </a:p>
          <a:p>
            <a:pPr marL="0" indent="0">
              <a:buNone/>
            </a:pPr>
            <a:endParaRPr lang="en-US" sz="1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49473D-B57A-7B52-7E49-4A2B175DB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98595"/>
              </p:ext>
            </p:extLst>
          </p:nvPr>
        </p:nvGraphicFramePr>
        <p:xfrm>
          <a:off x="1498833" y="2876818"/>
          <a:ext cx="526269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751">
                  <a:extLst>
                    <a:ext uri="{9D8B030D-6E8A-4147-A177-3AD203B41FA5}">
                      <a16:colId xmlns:a16="http://schemas.microsoft.com/office/drawing/2014/main" val="306008655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359907530"/>
                    </a:ext>
                  </a:extLst>
                </a:gridCol>
                <a:gridCol w="2634143">
                  <a:extLst>
                    <a:ext uri="{9D8B030D-6E8A-4147-A177-3AD203B41FA5}">
                      <a16:colId xmlns:a16="http://schemas.microsoft.com/office/drawing/2014/main" val="4043477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Warehouse_ID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Avg_Processing_Time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1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166.0000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60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004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171.0000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04215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065C70B-D45E-133A-28BD-5DE23D41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611" y="4049712"/>
            <a:ext cx="806284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Warehouses with higher processing time contribute to overall delivery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Reducing processing time in these warehouses can significantly improve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dispatch efficiency and on-time delivery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94950"/>
            <a:ext cx="8229600" cy="1417739"/>
          </a:xfrm>
        </p:spPr>
        <p:txBody>
          <a:bodyPr>
            <a:normAutofit/>
          </a:bodyPr>
          <a:lstStyle/>
          <a:p>
            <a:r>
              <a:rPr sz="3200" dirty="0"/>
              <a:t>Warehouse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7230"/>
            <a:ext cx="8229600" cy="5538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QUERY:-</a:t>
            </a:r>
          </a:p>
          <a:p>
            <a:pPr marL="0" indent="0">
              <a:buNone/>
            </a:pPr>
            <a:r>
              <a:rPr lang="en-US" sz="2000" dirty="0"/>
              <a:t>SELECT Warehouse_ID,  COUNT(*) AS Total_Orders,  COUNT(CASE            WHEN DATEDIFF(Actual_Delivery_Date, Order_Date) &gt; 0 THEN 1        END) AS Delayed_Orders FROM orders GROUP BY Warehouse_ID;</a:t>
            </a:r>
          </a:p>
          <a:p>
            <a:pPr marL="0" indent="0">
              <a:buNone/>
            </a:pPr>
            <a:r>
              <a:rPr lang="en-US" sz="2000" b="1" dirty="0"/>
              <a:t>RESULT:-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378068-02C7-5805-3B03-CBBF0010B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74575"/>
              </p:ext>
            </p:extLst>
          </p:nvPr>
        </p:nvGraphicFramePr>
        <p:xfrm>
          <a:off x="1577130" y="2316480"/>
          <a:ext cx="6096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121">
                  <a:extLst>
                    <a:ext uri="{9D8B030D-6E8A-4147-A177-3AD203B41FA5}">
                      <a16:colId xmlns:a16="http://schemas.microsoft.com/office/drawing/2014/main" val="1962571527"/>
                    </a:ext>
                  </a:extLst>
                </a:gridCol>
                <a:gridCol w="1744910">
                  <a:extLst>
                    <a:ext uri="{9D8B030D-6E8A-4147-A177-3AD203B41FA5}">
                      <a16:colId xmlns:a16="http://schemas.microsoft.com/office/drawing/2014/main" val="3215201267"/>
                    </a:ext>
                  </a:extLst>
                </a:gridCol>
                <a:gridCol w="1551964">
                  <a:extLst>
                    <a:ext uri="{9D8B030D-6E8A-4147-A177-3AD203B41FA5}">
                      <a16:colId xmlns:a16="http://schemas.microsoft.com/office/drawing/2014/main" val="2072374919"/>
                    </a:ext>
                  </a:extLst>
                </a:gridCol>
                <a:gridCol w="1977005">
                  <a:extLst>
                    <a:ext uri="{9D8B030D-6E8A-4147-A177-3AD203B41FA5}">
                      <a16:colId xmlns:a16="http://schemas.microsoft.com/office/drawing/2014/main" val="82082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Warehouse_ID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Total_Orders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Delayed_Orders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25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82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83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371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68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275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817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544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14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548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2509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53673"/>
            <a:ext cx="8229600" cy="1627463"/>
          </a:xfrm>
        </p:spPr>
        <p:txBody>
          <a:bodyPr>
            <a:normAutofit/>
          </a:bodyPr>
          <a:lstStyle/>
          <a:p>
            <a:r>
              <a:rPr sz="3200" dirty="0"/>
              <a:t>On-Time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950"/>
            <a:ext cx="8229600" cy="5631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QUERY:-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</a:p>
          <a:p>
            <a:pPr marL="0" indent="0">
              <a:buNone/>
            </a:pPr>
            <a:r>
              <a:rPr lang="en-US" sz="1800" dirty="0"/>
              <a:t>    (COUNT(CASE </a:t>
            </a:r>
          </a:p>
          <a:p>
            <a:pPr marL="0" indent="0">
              <a:buNone/>
            </a:pPr>
            <a:r>
              <a:rPr lang="en-US" sz="1800" dirty="0"/>
              <a:t>        WHEN Actual_Delivery_Date &lt;= Expected_Delivery_Date THEN 1 </a:t>
            </a:r>
          </a:p>
          <a:p>
            <a:pPr marL="0" indent="0">
              <a:buNone/>
            </a:pPr>
            <a:r>
              <a:rPr lang="en-US" sz="1800" dirty="0"/>
              <a:t>    END) * 100.0 / COUNT(*)) AS On_Time_Percentage</a:t>
            </a:r>
          </a:p>
          <a:p>
            <a:pPr marL="0" indent="0">
              <a:buNone/>
            </a:pPr>
            <a:r>
              <a:rPr lang="en-US" sz="1800" dirty="0"/>
              <a:t>FROM orders;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RESULT :-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sz="1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9C7A25-1D5C-6695-191E-F2F76CCD8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898949"/>
              </p:ext>
            </p:extLst>
          </p:nvPr>
        </p:nvGraphicFramePr>
        <p:xfrm>
          <a:off x="2287399" y="3754307"/>
          <a:ext cx="303122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587">
                  <a:extLst>
                    <a:ext uri="{9D8B030D-6E8A-4147-A177-3AD203B41FA5}">
                      <a16:colId xmlns:a16="http://schemas.microsoft.com/office/drawing/2014/main" val="1368926593"/>
                    </a:ext>
                  </a:extLst>
                </a:gridCol>
                <a:gridCol w="2416634">
                  <a:extLst>
                    <a:ext uri="{9D8B030D-6E8A-4147-A177-3AD203B41FA5}">
                      <a16:colId xmlns:a16="http://schemas.microsoft.com/office/drawing/2014/main" val="2424159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On_Time_Percentage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945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32.00000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73771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0DEE859-2200-A17A-5B19-1FB5A82D0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812511"/>
            <a:ext cx="878977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overall on-time delivery rate of 32% indicates that the majority of deliveries 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delayed. This highlights the need to improve route efficiency, warehouse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time, and delivery agent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37563"/>
            <a:ext cx="8229600" cy="2055201"/>
          </a:xfrm>
        </p:spPr>
        <p:txBody>
          <a:bodyPr>
            <a:normAutofit/>
          </a:bodyPr>
          <a:lstStyle/>
          <a:p>
            <a:r>
              <a:rPr sz="3200" dirty="0"/>
              <a:t>Agent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253" y="562063"/>
            <a:ext cx="8229600" cy="5312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QUERY:-</a:t>
            </a:r>
          </a:p>
          <a:p>
            <a:pPr marL="0" indent="0">
              <a:buNone/>
            </a:pPr>
            <a:r>
              <a:rPr lang="en-US" sz="1600" dirty="0"/>
              <a:t>SELECT Route_ID,</a:t>
            </a:r>
            <a:br>
              <a:rPr lang="en-US" sz="1600" dirty="0"/>
            </a:br>
            <a:r>
              <a:rPr lang="en-US" sz="1600" dirty="0"/>
              <a:t>Agent_ID,</a:t>
            </a:r>
            <a:br>
              <a:rPr lang="en-US" sz="1600" dirty="0"/>
            </a:br>
            <a:r>
              <a:rPr lang="en-US" sz="1600" dirty="0"/>
              <a:t>On_Time_Percentage,</a:t>
            </a:r>
            <a:br>
              <a:rPr lang="en-US" sz="1600" dirty="0"/>
            </a:br>
            <a:r>
              <a:rPr lang="en-US" sz="1600" dirty="0"/>
              <a:t>RANK() OVER (</a:t>
            </a:r>
            <a:br>
              <a:rPr lang="en-US" sz="1600" dirty="0"/>
            </a:br>
            <a:r>
              <a:rPr lang="en-US" sz="1600" dirty="0"/>
              <a:t>PARTITION BY Route_ID</a:t>
            </a:r>
            <a:br>
              <a:rPr lang="en-US" sz="1600" dirty="0"/>
            </a:br>
            <a:r>
              <a:rPr lang="en-US" sz="1600" dirty="0"/>
              <a:t>ORDER BY On_Time_Percentage DESC</a:t>
            </a:r>
            <a:br>
              <a:rPr lang="en-US" sz="1600" dirty="0"/>
            </a:br>
            <a:r>
              <a:rPr lang="en-US" sz="1600" dirty="0"/>
              <a:t>) AS Rank_Agent</a:t>
            </a:r>
            <a:br>
              <a:rPr lang="en-US" sz="1600" dirty="0"/>
            </a:br>
            <a:r>
              <a:rPr lang="en-US" sz="1600" dirty="0"/>
              <a:t>FROM delivery_agents;</a:t>
            </a:r>
          </a:p>
          <a:p>
            <a:pPr marL="0" indent="0">
              <a:buNone/>
            </a:pPr>
            <a:r>
              <a:rPr lang="en-US" sz="1400" dirty="0"/>
              <a:t>SELECT Agent_ID, Route_ID, On_Time_Percentage</a:t>
            </a:r>
          </a:p>
          <a:p>
            <a:pPr marL="0" indent="0">
              <a:buNone/>
            </a:pPr>
            <a:r>
              <a:rPr lang="en-US" sz="1400" dirty="0"/>
              <a:t>FROM delivery_agents</a:t>
            </a:r>
          </a:p>
          <a:p>
            <a:pPr marL="0" indent="0">
              <a:buNone/>
            </a:pPr>
            <a:r>
              <a:rPr lang="en-US" sz="1400" dirty="0"/>
              <a:t>ORDER BY On_Time_Percentage DESC</a:t>
            </a:r>
          </a:p>
          <a:p>
            <a:pPr marL="0" indent="0">
              <a:buNone/>
            </a:pPr>
            <a:r>
              <a:rPr lang="en-US" sz="1400" dirty="0"/>
              <a:t>LIMIT 5;</a:t>
            </a:r>
          </a:p>
          <a:p>
            <a:pPr marL="0" indent="0">
              <a:buNone/>
            </a:pPr>
            <a:r>
              <a:rPr lang="en-US" sz="1600" b="1" dirty="0"/>
              <a:t>RESULT:-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12133A-C4BD-6F97-AD33-6486496F2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110419"/>
              </p:ext>
            </p:extLst>
          </p:nvPr>
        </p:nvGraphicFramePr>
        <p:xfrm>
          <a:off x="1240172" y="4412819"/>
          <a:ext cx="666365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525">
                  <a:extLst>
                    <a:ext uri="{9D8B030D-6E8A-4147-A177-3AD203B41FA5}">
                      <a16:colId xmlns:a16="http://schemas.microsoft.com/office/drawing/2014/main" val="2428423922"/>
                    </a:ext>
                  </a:extLst>
                </a:gridCol>
                <a:gridCol w="1132514">
                  <a:extLst>
                    <a:ext uri="{9D8B030D-6E8A-4147-A177-3AD203B41FA5}">
                      <a16:colId xmlns:a16="http://schemas.microsoft.com/office/drawing/2014/main" val="595579306"/>
                    </a:ext>
                  </a:extLst>
                </a:gridCol>
                <a:gridCol w="1124125">
                  <a:extLst>
                    <a:ext uri="{9D8B030D-6E8A-4147-A177-3AD203B41FA5}">
                      <a16:colId xmlns:a16="http://schemas.microsoft.com/office/drawing/2014/main" val="3961555411"/>
                    </a:ext>
                  </a:extLst>
                </a:gridCol>
                <a:gridCol w="2273416">
                  <a:extLst>
                    <a:ext uri="{9D8B030D-6E8A-4147-A177-3AD203B41FA5}">
                      <a16:colId xmlns:a16="http://schemas.microsoft.com/office/drawing/2014/main" val="318203470"/>
                    </a:ext>
                  </a:extLst>
                </a:gridCol>
                <a:gridCol w="1619075">
                  <a:extLst>
                    <a:ext uri="{9D8B030D-6E8A-4147-A177-3AD203B41FA5}">
                      <a16:colId xmlns:a16="http://schemas.microsoft.com/office/drawing/2014/main" val="2331073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Agent_ID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On_Time_Percentage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Rank_Agent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4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74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489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76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1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99.82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4005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29174"/>
            <a:ext cx="8229600" cy="1820411"/>
          </a:xfrm>
        </p:spPr>
        <p:txBody>
          <a:bodyPr>
            <a:normAutofit/>
          </a:bodyPr>
          <a:lstStyle/>
          <a:p>
            <a:r>
              <a:rPr sz="3200" dirty="0"/>
              <a:t>Low Performing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8840"/>
            <a:ext cx="8229600" cy="554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QUERY:-</a:t>
            </a:r>
          </a:p>
          <a:p>
            <a:pPr marL="0" indent="0">
              <a:buNone/>
            </a:pPr>
            <a:r>
              <a:rPr lang="en-US" sz="1600" dirty="0"/>
              <a:t>SELECT Agent_ID,</a:t>
            </a:r>
          </a:p>
          <a:p>
            <a:pPr marL="0" indent="0">
              <a:buNone/>
            </a:pPr>
            <a:r>
              <a:rPr lang="en-US" sz="1600" dirty="0"/>
              <a:t>       Route_ID,</a:t>
            </a:r>
          </a:p>
          <a:p>
            <a:pPr marL="0" indent="0">
              <a:buNone/>
            </a:pPr>
            <a:r>
              <a:rPr lang="en-US" sz="1600" dirty="0"/>
              <a:t>       On_Time_Percentage</a:t>
            </a:r>
          </a:p>
          <a:p>
            <a:pPr marL="0" indent="0">
              <a:buNone/>
            </a:pPr>
            <a:r>
              <a:rPr lang="en-US" sz="1600" dirty="0"/>
              <a:t>FROM delivery_agents</a:t>
            </a:r>
          </a:p>
          <a:p>
            <a:pPr marL="0" indent="0">
              <a:buNone/>
            </a:pPr>
            <a:r>
              <a:rPr lang="en-US" sz="1600" dirty="0"/>
              <a:t>WHERE On_Time_Percentage &lt; 80;</a:t>
            </a:r>
          </a:p>
          <a:p>
            <a:pPr marL="0" indent="0">
              <a:buNone/>
            </a:pPr>
            <a:r>
              <a:rPr lang="en-US" sz="1600" b="1" dirty="0"/>
              <a:t>RESULT:-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C5F8BF-8675-590F-6EAE-2E81C52A3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373259"/>
              </p:ext>
            </p:extLst>
          </p:nvPr>
        </p:nvGraphicFramePr>
        <p:xfrm>
          <a:off x="2027340" y="2399251"/>
          <a:ext cx="6096000" cy="425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249">
                  <a:extLst>
                    <a:ext uri="{9D8B030D-6E8A-4147-A177-3AD203B41FA5}">
                      <a16:colId xmlns:a16="http://schemas.microsoft.com/office/drawing/2014/main" val="3033268737"/>
                    </a:ext>
                  </a:extLst>
                </a:gridCol>
                <a:gridCol w="1627464">
                  <a:extLst>
                    <a:ext uri="{9D8B030D-6E8A-4147-A177-3AD203B41FA5}">
                      <a16:colId xmlns:a16="http://schemas.microsoft.com/office/drawing/2014/main" val="3496260690"/>
                    </a:ext>
                  </a:extLst>
                </a:gridCol>
                <a:gridCol w="1434518">
                  <a:extLst>
                    <a:ext uri="{9D8B030D-6E8A-4147-A177-3AD203B41FA5}">
                      <a16:colId xmlns:a16="http://schemas.microsoft.com/office/drawing/2014/main" val="360724386"/>
                    </a:ext>
                  </a:extLst>
                </a:gridCol>
                <a:gridCol w="2309769">
                  <a:extLst>
                    <a:ext uri="{9D8B030D-6E8A-4147-A177-3AD203B41FA5}">
                      <a16:colId xmlns:a16="http://schemas.microsoft.com/office/drawing/2014/main" val="246625064"/>
                    </a:ext>
                  </a:extLst>
                </a:gridCol>
              </a:tblGrid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Route_ID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On_Time_Percentage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31827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74.15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339324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673181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586551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230431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31641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73.21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240001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77.65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103235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74.21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142752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73.8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569628"/>
                  </a:ext>
                </a:extLst>
              </a:tr>
              <a:tr h="3872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74.47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4235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05343"/>
            <a:ext cx="8229600" cy="2222981"/>
          </a:xfrm>
        </p:spPr>
        <p:txBody>
          <a:bodyPr>
            <a:normAutofit/>
          </a:bodyPr>
          <a:lstStyle/>
          <a:p>
            <a:r>
              <a:rPr sz="3200" dirty="0"/>
              <a:t>Speed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7230"/>
            <a:ext cx="8229600" cy="6270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QUERY:-</a:t>
            </a:r>
          </a:p>
          <a:p>
            <a:pPr marL="0" indent="0">
              <a:buNone/>
            </a:pPr>
            <a:r>
              <a:rPr lang="en-IN" sz="1400" dirty="0"/>
              <a:t>SELECT AVG(Avg_Speed_KM_HR) AS Avg_Speed</a:t>
            </a:r>
          </a:p>
          <a:p>
            <a:pPr marL="0" indent="0">
              <a:buNone/>
            </a:pPr>
            <a:r>
              <a:rPr lang="en-IN" sz="1400" dirty="0"/>
              <a:t>FROM (</a:t>
            </a:r>
          </a:p>
          <a:p>
            <a:pPr marL="0" indent="0">
              <a:buNone/>
            </a:pPr>
            <a:r>
              <a:rPr lang="en-IN" sz="1400" dirty="0"/>
              <a:t>    SELECT Avg_Speed_KM_HR</a:t>
            </a:r>
          </a:p>
          <a:p>
            <a:pPr marL="0" indent="0">
              <a:buNone/>
            </a:pPr>
            <a:r>
              <a:rPr lang="en-IN" sz="1400" dirty="0"/>
              <a:t>    FROM delivery_agents</a:t>
            </a:r>
          </a:p>
          <a:p>
            <a:pPr marL="0" indent="0">
              <a:buNone/>
            </a:pPr>
            <a:r>
              <a:rPr lang="en-IN" sz="1400" dirty="0"/>
              <a:t>    ORDER BY On_Time_Percentage DESC</a:t>
            </a:r>
          </a:p>
          <a:p>
            <a:pPr marL="0" indent="0">
              <a:buNone/>
            </a:pPr>
            <a:r>
              <a:rPr lang="en-IN" sz="1400" dirty="0"/>
              <a:t>    LIMIT 5</a:t>
            </a:r>
          </a:p>
          <a:p>
            <a:pPr marL="0" indent="0">
              <a:buNone/>
            </a:pPr>
            <a:r>
              <a:rPr lang="en-IN" sz="1400" dirty="0"/>
              <a:t>) AS top_agents</a:t>
            </a:r>
          </a:p>
          <a:p>
            <a:pPr marL="0" indent="0">
              <a:buNone/>
            </a:pPr>
            <a:r>
              <a:rPr lang="en-IN" sz="1400" dirty="0"/>
              <a:t>UNION</a:t>
            </a:r>
          </a:p>
          <a:p>
            <a:pPr marL="0" indent="0">
              <a:buNone/>
            </a:pPr>
            <a:r>
              <a:rPr lang="en-IN" sz="1400" dirty="0"/>
              <a:t>SELECT AVG(Avg_Speed_KM_HR)</a:t>
            </a:r>
          </a:p>
          <a:p>
            <a:pPr marL="0" indent="0">
              <a:buNone/>
            </a:pPr>
            <a:r>
              <a:rPr lang="en-IN" sz="1400" dirty="0"/>
              <a:t>FROM (</a:t>
            </a:r>
          </a:p>
          <a:p>
            <a:pPr marL="0" indent="0">
              <a:buNone/>
            </a:pPr>
            <a:r>
              <a:rPr lang="en-IN" sz="1400" dirty="0"/>
              <a:t>    SELECT Avg_Speed_KM_HR</a:t>
            </a:r>
          </a:p>
          <a:p>
            <a:pPr marL="0" indent="0">
              <a:buNone/>
            </a:pPr>
            <a:r>
              <a:rPr lang="en-IN" sz="1400" dirty="0"/>
              <a:t>    FROM delivery_agents</a:t>
            </a:r>
          </a:p>
          <a:p>
            <a:pPr marL="0" indent="0">
              <a:buNone/>
            </a:pPr>
            <a:r>
              <a:rPr lang="en-IN" sz="1400" dirty="0"/>
              <a:t>    ORDER BY On_Time_Percentage ASC</a:t>
            </a:r>
          </a:p>
          <a:p>
            <a:pPr marL="0" indent="0">
              <a:buNone/>
            </a:pPr>
            <a:r>
              <a:rPr lang="en-IN" sz="1400" dirty="0"/>
              <a:t>    LIMIT 5</a:t>
            </a:r>
          </a:p>
          <a:p>
            <a:pPr marL="0" indent="0">
              <a:buNone/>
            </a:pPr>
            <a:r>
              <a:rPr lang="en-IN" sz="1400" dirty="0"/>
              <a:t>) AS bottom_agents;</a:t>
            </a:r>
          </a:p>
          <a:p>
            <a:pPr marL="0" indent="0">
              <a:buNone/>
            </a:pPr>
            <a:r>
              <a:rPr lang="en-IN" sz="1400" b="1" dirty="0"/>
              <a:t>RESULT:-</a:t>
            </a:r>
          </a:p>
          <a:p>
            <a:pPr marL="0" indent="0">
              <a:buNone/>
            </a:pPr>
            <a:endParaRPr sz="1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3D9795-089C-7C37-2425-125C48E82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14970"/>
              </p:ext>
            </p:extLst>
          </p:nvPr>
        </p:nvGraphicFramePr>
        <p:xfrm>
          <a:off x="2346121" y="4928766"/>
          <a:ext cx="30815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05">
                  <a:extLst>
                    <a:ext uri="{9D8B030D-6E8A-4147-A177-3AD203B41FA5}">
                      <a16:colId xmlns:a16="http://schemas.microsoft.com/office/drawing/2014/main" val="24332660"/>
                    </a:ext>
                  </a:extLst>
                </a:gridCol>
                <a:gridCol w="2399251">
                  <a:extLst>
                    <a:ext uri="{9D8B030D-6E8A-4147-A177-3AD203B41FA5}">
                      <a16:colId xmlns:a16="http://schemas.microsoft.com/office/drawing/2014/main" val="1838899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Avg_Speed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70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56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56.8000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80303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61394"/>
            <a:ext cx="8229600" cy="1879032"/>
          </a:xfrm>
        </p:spPr>
        <p:txBody>
          <a:bodyPr>
            <a:normAutofit/>
          </a:bodyPr>
          <a:lstStyle/>
          <a:p>
            <a:r>
              <a:rPr sz="2800" dirty="0"/>
              <a:t>Shipment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1120"/>
            <a:ext cx="8229600" cy="54550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QUERY:-</a:t>
            </a:r>
          </a:p>
          <a:p>
            <a:pPr marL="0" indent="0">
              <a:buNone/>
            </a:pPr>
            <a:r>
              <a:rPr lang="en-US" sz="1600" dirty="0"/>
              <a:t>SELECT Order_ID,</a:t>
            </a:r>
          </a:p>
          <a:p>
            <a:pPr marL="0" indent="0">
              <a:buNone/>
            </a:pPr>
            <a:r>
              <a:rPr lang="en-US" sz="1600" dirty="0"/>
              <a:t>       MAX(Checkpoint_Time) AS Last_Checkpoint_Time</a:t>
            </a:r>
          </a:p>
          <a:p>
            <a:pPr marL="0" indent="0">
              <a:buNone/>
            </a:pPr>
            <a:r>
              <a:rPr lang="en-US" sz="1600" dirty="0"/>
              <a:t>FROM shipment_tracking</a:t>
            </a:r>
          </a:p>
          <a:p>
            <a:pPr marL="0" indent="0">
              <a:buNone/>
            </a:pPr>
            <a:r>
              <a:rPr lang="en-US" sz="1600" dirty="0"/>
              <a:t>GROUP BY Order_ID;</a:t>
            </a:r>
          </a:p>
          <a:p>
            <a:pPr marL="0" indent="0">
              <a:buNone/>
            </a:pPr>
            <a:r>
              <a:rPr lang="en-US" sz="1600" b="1" dirty="0"/>
              <a:t>RESULT:-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C3E2B3-A076-0CA9-DF90-0C88E839E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22590"/>
              </p:ext>
            </p:extLst>
          </p:nvPr>
        </p:nvGraphicFramePr>
        <p:xfrm>
          <a:off x="1532388" y="2417241"/>
          <a:ext cx="504458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863">
                  <a:extLst>
                    <a:ext uri="{9D8B030D-6E8A-4147-A177-3AD203B41FA5}">
                      <a16:colId xmlns:a16="http://schemas.microsoft.com/office/drawing/2014/main" val="2457285151"/>
                    </a:ext>
                  </a:extLst>
                </a:gridCol>
                <a:gridCol w="1761688">
                  <a:extLst>
                    <a:ext uri="{9D8B030D-6E8A-4147-A177-3AD203B41FA5}">
                      <a16:colId xmlns:a16="http://schemas.microsoft.com/office/drawing/2014/main" val="2727274318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934277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Last_Checkpoint_Time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38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72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2025-07-11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225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837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10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330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17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6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41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2025-06-05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41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2025-06-04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4416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96286"/>
            <a:ext cx="8229600" cy="1963024"/>
          </a:xfrm>
        </p:spPr>
        <p:txBody>
          <a:bodyPr>
            <a:normAutofit/>
          </a:bodyPr>
          <a:lstStyle/>
          <a:p>
            <a:r>
              <a:rPr sz="2400" dirty="0"/>
              <a:t>Delay Reasons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6896"/>
            <a:ext cx="8229600" cy="5589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QUERY:-</a:t>
            </a:r>
          </a:p>
          <a:p>
            <a:pPr marL="0" indent="0">
              <a:buNone/>
            </a:pPr>
            <a:r>
              <a:rPr lang="en-US" sz="1400" dirty="0"/>
              <a:t>SELECT Delay_Reason,</a:t>
            </a:r>
          </a:p>
          <a:p>
            <a:pPr marL="0" indent="0">
              <a:buNone/>
            </a:pPr>
            <a:r>
              <a:rPr lang="en-US" sz="1400" dirty="0"/>
              <a:t>       COUNT(*) AS Frequency</a:t>
            </a:r>
          </a:p>
          <a:p>
            <a:pPr marL="0" indent="0">
              <a:buNone/>
            </a:pPr>
            <a:r>
              <a:rPr lang="en-US" sz="1400" dirty="0"/>
              <a:t>FROM shipment_tracking</a:t>
            </a:r>
          </a:p>
          <a:p>
            <a:pPr marL="0" indent="0">
              <a:buNone/>
            </a:pPr>
            <a:r>
              <a:rPr lang="en-US" sz="1400" dirty="0"/>
              <a:t>WHERE Delay_Reason IS NOT NULL</a:t>
            </a:r>
          </a:p>
          <a:p>
            <a:pPr marL="0" indent="0">
              <a:buNone/>
            </a:pPr>
            <a:r>
              <a:rPr lang="en-US" sz="1400" dirty="0"/>
              <a:t>  AND Delay_Reason != 'None'</a:t>
            </a:r>
          </a:p>
          <a:p>
            <a:pPr marL="0" indent="0">
              <a:buNone/>
            </a:pPr>
            <a:r>
              <a:rPr lang="en-US" sz="1400" dirty="0"/>
              <a:t>GROUP BY Delay_Reason</a:t>
            </a:r>
          </a:p>
          <a:p>
            <a:pPr marL="0" indent="0">
              <a:buNone/>
            </a:pPr>
            <a:r>
              <a:rPr lang="en-US" sz="1400" dirty="0"/>
              <a:t>ORDER BY Frequency DESC;</a:t>
            </a:r>
          </a:p>
          <a:p>
            <a:pPr marL="0" indent="0">
              <a:buNone/>
            </a:pPr>
            <a:r>
              <a:rPr lang="en-IN" sz="1400" b="1" dirty="0"/>
              <a:t>RESULT:-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endParaRPr sz="1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626809-5F64-4C2A-46A9-2A5ED4EEE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38419"/>
              </p:ext>
            </p:extLst>
          </p:nvPr>
        </p:nvGraphicFramePr>
        <p:xfrm>
          <a:off x="1524000" y="3312655"/>
          <a:ext cx="5740866" cy="1732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807">
                  <a:extLst>
                    <a:ext uri="{9D8B030D-6E8A-4147-A177-3AD203B41FA5}">
                      <a16:colId xmlns:a16="http://schemas.microsoft.com/office/drawing/2014/main" val="698996947"/>
                    </a:ext>
                  </a:extLst>
                </a:gridCol>
                <a:gridCol w="2239861">
                  <a:extLst>
                    <a:ext uri="{9D8B030D-6E8A-4147-A177-3AD203B41FA5}">
                      <a16:colId xmlns:a16="http://schemas.microsoft.com/office/drawing/2014/main" val="2701885444"/>
                    </a:ext>
                  </a:extLst>
                </a:gridCol>
                <a:gridCol w="2592198">
                  <a:extLst>
                    <a:ext uri="{9D8B030D-6E8A-4147-A177-3AD203B41FA5}">
                      <a16:colId xmlns:a16="http://schemas.microsoft.com/office/drawing/2014/main" val="1285916478"/>
                    </a:ext>
                  </a:extLst>
                </a:gridCol>
              </a:tblGrid>
              <a:tr h="43302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Delay_Reason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445709"/>
                  </a:ext>
                </a:extLst>
              </a:tr>
              <a:tr h="43302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239196"/>
                  </a:ext>
                </a:extLst>
              </a:tr>
              <a:tr h="43302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540938"/>
                  </a:ext>
                </a:extLst>
              </a:tr>
              <a:tr h="43302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Sorting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2715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78840"/>
            <a:ext cx="8229600" cy="1669409"/>
          </a:xfrm>
        </p:spPr>
        <p:txBody>
          <a:bodyPr>
            <a:normAutofit/>
          </a:bodyPr>
          <a:lstStyle/>
          <a:p>
            <a:r>
              <a:rPr sz="2400" dirty="0"/>
              <a:t>Multiple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1728"/>
            <a:ext cx="8229600" cy="5614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QUERY:-</a:t>
            </a:r>
          </a:p>
          <a:p>
            <a:pPr marL="0" indent="0">
              <a:buNone/>
            </a:pPr>
            <a:r>
              <a:rPr lang="en-US" sz="1400" dirty="0"/>
              <a:t>SELECT Order_ID,</a:t>
            </a:r>
          </a:p>
          <a:p>
            <a:pPr marL="0" indent="0">
              <a:buNone/>
            </a:pPr>
            <a:r>
              <a:rPr lang="en-US" sz="1400" dirty="0"/>
              <a:t>       COUNT(*) AS Delay_Count</a:t>
            </a:r>
          </a:p>
          <a:p>
            <a:pPr marL="0" indent="0">
              <a:buNone/>
            </a:pPr>
            <a:r>
              <a:rPr lang="en-US" sz="1400" dirty="0"/>
              <a:t>FROM shipment_tracking</a:t>
            </a:r>
          </a:p>
          <a:p>
            <a:pPr marL="0" indent="0">
              <a:buNone/>
            </a:pPr>
            <a:r>
              <a:rPr lang="en-US" sz="1400" dirty="0"/>
              <a:t>WHERE Delay_Reason IS NOT NULL</a:t>
            </a:r>
          </a:p>
          <a:p>
            <a:pPr marL="0" indent="0">
              <a:buNone/>
            </a:pPr>
            <a:r>
              <a:rPr lang="en-US" sz="1400" dirty="0"/>
              <a:t>  AND Delay_Reason != 'None'</a:t>
            </a:r>
          </a:p>
          <a:p>
            <a:pPr marL="0" indent="0">
              <a:buNone/>
            </a:pPr>
            <a:r>
              <a:rPr lang="en-US" sz="1400" dirty="0"/>
              <a:t>GROUP BY Order_ID</a:t>
            </a:r>
          </a:p>
          <a:p>
            <a:pPr marL="0" indent="0">
              <a:buNone/>
            </a:pPr>
            <a:r>
              <a:rPr lang="en-US" sz="1400" dirty="0"/>
              <a:t>HAVING COUNT(*) &gt; 2;</a:t>
            </a:r>
          </a:p>
          <a:p>
            <a:pPr marL="0" indent="0">
              <a:buNone/>
            </a:pPr>
            <a:r>
              <a:rPr lang="en-US" sz="1600" b="1" dirty="0"/>
              <a:t>RESULT:-</a:t>
            </a:r>
          </a:p>
          <a:p>
            <a:pPr marL="0" indent="0">
              <a:buNone/>
            </a:pPr>
            <a:endParaRPr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01AA3C-2B3E-671A-950E-FF0F05675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372677"/>
              </p:ext>
            </p:extLst>
          </p:nvPr>
        </p:nvGraphicFramePr>
        <p:xfrm>
          <a:off x="2539067" y="2678092"/>
          <a:ext cx="491035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308">
                  <a:extLst>
                    <a:ext uri="{9D8B030D-6E8A-4147-A177-3AD203B41FA5}">
                      <a16:colId xmlns:a16="http://schemas.microsoft.com/office/drawing/2014/main" val="3226367700"/>
                    </a:ext>
                  </a:extLst>
                </a:gridCol>
                <a:gridCol w="2105637">
                  <a:extLst>
                    <a:ext uri="{9D8B030D-6E8A-4147-A177-3AD203B41FA5}">
                      <a16:colId xmlns:a16="http://schemas.microsoft.com/office/drawing/2014/main" val="1588588467"/>
                    </a:ext>
                  </a:extLst>
                </a:gridCol>
                <a:gridCol w="1820411">
                  <a:extLst>
                    <a:ext uri="{9D8B030D-6E8A-4147-A177-3AD203B41FA5}">
                      <a16:colId xmlns:a16="http://schemas.microsoft.com/office/drawing/2014/main" val="402671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Delay_Count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26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06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76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68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488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320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8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14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73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999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O0019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066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62062"/>
            <a:ext cx="8229600" cy="1979700"/>
          </a:xfrm>
        </p:spPr>
        <p:txBody>
          <a:bodyPr>
            <a:normAutofit/>
          </a:bodyPr>
          <a:lstStyle/>
          <a:p>
            <a:r>
              <a:rPr sz="3200" dirty="0"/>
              <a:t>Warehouse Avg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6286"/>
            <a:ext cx="8229600" cy="6358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QUERY:-</a:t>
            </a:r>
          </a:p>
          <a:p>
            <a:pPr marL="0" indent="0">
              <a:buNone/>
            </a:pPr>
            <a:r>
              <a:rPr lang="en-US" sz="1600" dirty="0"/>
              <a:t>SELECT Warehouse_ID,</a:t>
            </a:r>
          </a:p>
          <a:p>
            <a:pPr marL="0" indent="0">
              <a:buNone/>
            </a:pPr>
            <a:r>
              <a:rPr lang="en-US" sz="1600" dirty="0"/>
              <a:t>       AVG(DATEDIFF(Actual_Delivery_Date, Order_Date)) AS Avg_Delay</a:t>
            </a:r>
          </a:p>
          <a:p>
            <a:pPr marL="0" indent="0">
              <a:buNone/>
            </a:pPr>
            <a:r>
              <a:rPr lang="en-US" sz="1600" dirty="0"/>
              <a:t>FROM orders</a:t>
            </a:r>
          </a:p>
          <a:p>
            <a:pPr marL="0" indent="0">
              <a:buNone/>
            </a:pPr>
            <a:r>
              <a:rPr lang="en-US" sz="1600" dirty="0"/>
              <a:t>GROUP BY Warehouse_ID;</a:t>
            </a:r>
          </a:p>
          <a:p>
            <a:pPr marL="0" indent="0">
              <a:buNone/>
            </a:pPr>
            <a:r>
              <a:rPr lang="en-US" sz="1600" b="1" dirty="0"/>
              <a:t>RESULT:-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2D6C40-FCB7-350F-3022-8D66FA4FF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790023"/>
              </p:ext>
            </p:extLst>
          </p:nvPr>
        </p:nvGraphicFramePr>
        <p:xfrm>
          <a:off x="1633057" y="2512736"/>
          <a:ext cx="526269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195">
                  <a:extLst>
                    <a:ext uri="{9D8B030D-6E8A-4147-A177-3AD203B41FA5}">
                      <a16:colId xmlns:a16="http://schemas.microsoft.com/office/drawing/2014/main" val="3924940386"/>
                    </a:ext>
                  </a:extLst>
                </a:gridCol>
                <a:gridCol w="2315361">
                  <a:extLst>
                    <a:ext uri="{9D8B030D-6E8A-4147-A177-3AD203B41FA5}">
                      <a16:colId xmlns:a16="http://schemas.microsoft.com/office/drawing/2014/main" val="3471010667"/>
                    </a:ext>
                  </a:extLst>
                </a:gridCol>
                <a:gridCol w="2181137">
                  <a:extLst>
                    <a:ext uri="{9D8B030D-6E8A-4147-A177-3AD203B41FA5}">
                      <a16:colId xmlns:a16="http://schemas.microsoft.com/office/drawing/2014/main" val="120752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Warehouse_ID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Avg_Delay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8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4.9697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975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086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5.0400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3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5.0435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57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5.1892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04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5.2105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87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5.2143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013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5.3235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8927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5.6667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902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5.8065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8870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60727"/>
            <a:ext cx="8229600" cy="1778365"/>
          </a:xfrm>
        </p:spPr>
        <p:txBody>
          <a:bodyPr>
            <a:normAutofit/>
          </a:bodyPr>
          <a:lstStyle/>
          <a:p>
            <a:r>
              <a:rPr sz="3200" dirty="0"/>
              <a:t>Traffic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3398"/>
            <a:ext cx="8229600" cy="5362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QUERY:-                                                                                                                                                      </a:t>
            </a:r>
            <a:r>
              <a:rPr lang="en-US" sz="1600" dirty="0"/>
              <a:t>SELECT Route_ID,</a:t>
            </a:r>
          </a:p>
          <a:p>
            <a:pPr marL="0" indent="0">
              <a:buNone/>
            </a:pPr>
            <a:r>
              <a:rPr lang="en-US" sz="1600" dirty="0"/>
              <a:t>       AVG(Traffic_Delay_Min) AS Avg_Traffic_Delay</a:t>
            </a:r>
          </a:p>
          <a:p>
            <a:pPr marL="0" indent="0">
              <a:buNone/>
            </a:pPr>
            <a:r>
              <a:rPr lang="en-US" sz="1600" dirty="0"/>
              <a:t>FROM routes</a:t>
            </a:r>
          </a:p>
          <a:p>
            <a:pPr marL="0" indent="0">
              <a:buNone/>
            </a:pPr>
            <a:r>
              <a:rPr lang="en-US" sz="1600" dirty="0"/>
              <a:t>GROUP BY Route_ID;</a:t>
            </a:r>
          </a:p>
          <a:p>
            <a:pPr marL="0" indent="0">
              <a:buNone/>
            </a:pPr>
            <a:r>
              <a:rPr lang="en-US" sz="1600" b="1" dirty="0"/>
              <a:t>RESULT:-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9CC19C-B4C6-CC3B-5946-B7C8C51DF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773120"/>
              </p:ext>
            </p:extLst>
          </p:nvPr>
        </p:nvGraphicFramePr>
        <p:xfrm>
          <a:off x="2144786" y="2509520"/>
          <a:ext cx="435668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359">
                  <a:extLst>
                    <a:ext uri="{9D8B030D-6E8A-4147-A177-3AD203B41FA5}">
                      <a16:colId xmlns:a16="http://schemas.microsoft.com/office/drawing/2014/main" val="743848236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3440939180"/>
                    </a:ext>
                  </a:extLst>
                </a:gridCol>
                <a:gridCol w="1996580">
                  <a:extLst>
                    <a:ext uri="{9D8B030D-6E8A-4147-A177-3AD203B41FA5}">
                      <a16:colId xmlns:a16="http://schemas.microsoft.com/office/drawing/2014/main" val="3902406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Route_ID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Avg_Traffic_Delay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34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313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116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11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438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34.0000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255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36.0000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886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25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42.0000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05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46.0000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47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51.0000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8536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29648-A42D-7765-C3F0-E3FB3C29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206" y="3679443"/>
            <a:ext cx="8229600" cy="2586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• Highest Warehouse Processing Time: 171 Minutes</a:t>
            </a:r>
            <a:endParaRPr lang="en-IN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95458F-25D5-6E01-F843-AE0ACB5D2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0206" y="555296"/>
            <a:ext cx="4357283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KPI Summary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Overall On-Time Delivery Rate: 32%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Average Delivery Delay: 5 Days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Average Traffic Delay: 28.85 Minutes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Lowest Route Efficiency: 0.151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074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56345"/>
            <a:ext cx="8229600" cy="2373983"/>
          </a:xfrm>
        </p:spPr>
        <p:txBody>
          <a:bodyPr>
            <a:normAutofit/>
          </a:bodyPr>
          <a:lstStyle/>
          <a:p>
            <a:r>
              <a:rPr sz="3600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CD37B1-C690-CFC2-FBC1-90EB441ABB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99901"/>
            <a:ext cx="855749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Delivery delays were observed across all routes and warehouses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Low route efficiency and high traffic delays impacted delivery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Some warehouses showed higher processing time causing dispatch delays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Delivery agent performance varied, affecting on-time delivery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Overall on-time delivery rate was 32%, indicating improvement opportunities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62062"/>
            <a:ext cx="8229600" cy="1979700"/>
          </a:xfrm>
        </p:spPr>
        <p:txBody>
          <a:bodyPr>
            <a:normAutofit/>
          </a:bodyPr>
          <a:lstStyle/>
          <a:p>
            <a:r>
              <a:rPr sz="3600" dirty="0"/>
              <a:t>Recommendations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77309E-DA26-13F4-5D37-880AB1B4B2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75184"/>
            <a:ext cx="713111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RECOMMENDATIONS 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low-efficiency routes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(R016, R006, R008)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delays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processing time in slow warehouses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(W010, W009, W007)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performance of low-performing delivery agents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(&lt;80%)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 major delay causes such as sorting, traffic, and weather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traffic-aware route planning to improve on-time delivery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3871-9884-FCB9-317D-FE57F006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2678287"/>
          </a:xfrm>
        </p:spPr>
        <p:txBody>
          <a:bodyPr>
            <a:normAutofit/>
          </a:bodyPr>
          <a:lstStyle/>
          <a:p>
            <a:r>
              <a:rPr lang="en-IN" sz="3600" b="1" dirty="0"/>
              <a:t>Loom video link :-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B6C0-CF86-6D04-99DE-B613165E0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14026"/>
            <a:ext cx="8229600" cy="4012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hlinkClick r:id="rId2"/>
              </a:rPr>
              <a:t>https://www.loom.com/share/d273c02f30ce4baa9b4a3cf76e7a7e04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46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4695</TotalTime>
  <Words>1845</Words>
  <Application>Microsoft Office PowerPoint</Application>
  <PresentationFormat>On-screen Show (4:3)</PresentationFormat>
  <Paragraphs>584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Logistics &amp; Delivery Performance Analysis - AMAZON</vt:lpstr>
      <vt:lpstr>Problem Statement</vt:lpstr>
      <vt:lpstr>Dataset Overview</vt:lpstr>
      <vt:lpstr>Duplicate Check</vt:lpstr>
      <vt:lpstr>Date Validation</vt:lpstr>
      <vt:lpstr>Date Validation</vt:lpstr>
      <vt:lpstr>Missing Value Handling</vt:lpstr>
      <vt:lpstr>Delivery Delay</vt:lpstr>
      <vt:lpstr>Route Performance</vt:lpstr>
      <vt:lpstr>Route Efficiency</vt:lpstr>
      <vt:lpstr>Delay Percentage</vt:lpstr>
      <vt:lpstr>Warehouse Processing</vt:lpstr>
      <vt:lpstr>Warehouse Performance</vt:lpstr>
      <vt:lpstr>On-Time Performance</vt:lpstr>
      <vt:lpstr>Agent Performance</vt:lpstr>
      <vt:lpstr>Low Performing Agents</vt:lpstr>
      <vt:lpstr>Speed Analysis</vt:lpstr>
      <vt:lpstr>Shipment Tracking</vt:lpstr>
      <vt:lpstr>Delay Reasons</vt:lpstr>
      <vt:lpstr>Multiple Delays</vt:lpstr>
      <vt:lpstr>Warehouse Avg Delay</vt:lpstr>
      <vt:lpstr>Traffic Analysis</vt:lpstr>
      <vt:lpstr>Overall KPI Summary  • Overall On-Time Delivery Rate: 32%  • Average Delivery Delay: 5 Days  • Average Traffic Delay: 28.85 Minutes  • Lowest Route Efficiency: 0.151   </vt:lpstr>
      <vt:lpstr>Conclusion</vt:lpstr>
      <vt:lpstr>Recommendations</vt:lpstr>
      <vt:lpstr>Loom video link :-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Saikeerthana C</dc:creator>
  <cp:keywords/>
  <dc:description>generated using python-pptx</dc:description>
  <cp:lastModifiedBy>Saikeerthana C</cp:lastModifiedBy>
  <cp:revision>3</cp:revision>
  <dcterms:created xsi:type="dcterms:W3CDTF">2013-01-27T09:14:16Z</dcterms:created>
  <dcterms:modified xsi:type="dcterms:W3CDTF">2026-03-30T10:15:39Z</dcterms:modified>
  <cp:category/>
</cp:coreProperties>
</file>